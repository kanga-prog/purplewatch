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5e338ed253bd4b90" Type="http://schemas.openxmlformats.org/officeDocument/2006/relationships/extended-properties" Target="docProps/app.xml"/><Relationship Id="R64fa304b05b24756" Type="http://schemas.openxmlformats.org/package/2006/relationships/metadata/core-properties" Target="docProps/core.xml"/><Relationship Id="Rff4aeef2e7394ef4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bc22d8ac9d94d96"/>
  </p:sldMasterIdLst>
  <p:notesMasterIdLst>
    <p:notesMasterId xmlns:r="http://schemas.openxmlformats.org/officeDocument/2006/relationships" r:id="R5922095f38194545"/>
  </p:notesMasterIdLst>
  <p:sldIdLst>
    <p:sldId xmlns:r="http://schemas.openxmlformats.org/officeDocument/2006/relationships" id="256" r:id="Ra9175e0dec024ec5"/>
    <p:sldId xmlns:r="http://schemas.openxmlformats.org/officeDocument/2006/relationships" id="257" r:id="R5623f89743c44abd"/>
    <p:sldId xmlns:r="http://schemas.openxmlformats.org/officeDocument/2006/relationships" id="258" r:id="R84e270024f74409f"/>
    <p:sldId xmlns:r="http://schemas.openxmlformats.org/officeDocument/2006/relationships" id="259" r:id="Re4a3bdf9399247a3"/>
    <p:sldId xmlns:r="http://schemas.openxmlformats.org/officeDocument/2006/relationships" id="260" r:id="R1800c38595b440b3"/>
    <p:sldId xmlns:r="http://schemas.openxmlformats.org/officeDocument/2006/relationships" id="261" r:id="R8706a09c084242e0"/>
    <p:sldId xmlns:r="http://schemas.openxmlformats.org/officeDocument/2006/relationships" id="262" r:id="Rf2e130099edd4c61"/>
    <p:sldId xmlns:r="http://schemas.openxmlformats.org/officeDocument/2006/relationships" id="263" r:id="R19e5877248c248e4"/>
    <p:sldId xmlns:r="http://schemas.openxmlformats.org/officeDocument/2006/relationships" id="264" r:id="Rfa54959e803847a1"/>
    <p:sldId xmlns:r="http://schemas.openxmlformats.org/officeDocument/2006/relationships" id="265" r:id="R8d1ff4ca24144b35"/>
    <p:sldId xmlns:r="http://schemas.openxmlformats.org/officeDocument/2006/relationships" id="266" r:id="R2e9b933e08bc421f"/>
    <p:sldId xmlns:r="http://schemas.openxmlformats.org/officeDocument/2006/relationships" id="267" r:id="R691f43974604462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1800c38595b440b3" Type="http://schemas.openxmlformats.org/officeDocument/2006/relationships/slide" Target="slides/slide5.xml"/><Relationship Id="R19e5877248c248e4" Type="http://schemas.openxmlformats.org/officeDocument/2006/relationships/slide" Target="slides/slide8.xml"/><Relationship Id="R2e9b933e08bc421f" Type="http://schemas.openxmlformats.org/officeDocument/2006/relationships/slide" Target="slides/slide11.xml"/><Relationship Id="R3bc16d135c1c44d3" Type="http://schemas.openxmlformats.org/officeDocument/2006/relationships/tableStyles" Target="tableStyles.xml"/><Relationship Id="R44af1f59b9e14c59" Type="http://schemas.openxmlformats.org/officeDocument/2006/relationships/theme" Target="theme/theme1.xml"/><Relationship Id="R4bc22d8ac9d94d96" Type="http://schemas.openxmlformats.org/officeDocument/2006/relationships/slideMaster" Target="slideMasters/slideMaster1.xml"/><Relationship Id="R5623f89743c44abd" Type="http://schemas.openxmlformats.org/officeDocument/2006/relationships/slide" Target="slides/slide2.xml"/><Relationship Id="R5922095f38194545" Type="http://schemas.openxmlformats.org/officeDocument/2006/relationships/notesMaster" Target="notesMasters/notesMaster1.xml"/><Relationship Id="R61421018b91e46c6" Type="http://schemas.openxmlformats.org/officeDocument/2006/relationships/presProps" Target="presProps.xml"/><Relationship Id="R691f43974604462b" Type="http://schemas.openxmlformats.org/officeDocument/2006/relationships/slide" Target="slides/slide12.xml"/><Relationship Id="R84e270024f74409f" Type="http://schemas.openxmlformats.org/officeDocument/2006/relationships/slide" Target="slides/slide3.xml"/><Relationship Id="R8706a09c084242e0" Type="http://schemas.openxmlformats.org/officeDocument/2006/relationships/slide" Target="slides/slide6.xml"/><Relationship Id="R8d1ff4ca24144b35" Type="http://schemas.openxmlformats.org/officeDocument/2006/relationships/slide" Target="slides/slide10.xml"/><Relationship Id="Ra9175e0dec024ec5" Type="http://schemas.openxmlformats.org/officeDocument/2006/relationships/slide" Target="slides/slide1.xml"/><Relationship Id="Re4a3bdf9399247a3" Type="http://schemas.openxmlformats.org/officeDocument/2006/relationships/slide" Target="slides/slide4.xml"/><Relationship Id="Rf2e130099edd4c61" Type="http://schemas.openxmlformats.org/officeDocument/2006/relationships/slide" Target="slides/slide7.xml"/><Relationship Id="Rfa54959e803847a1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97e6fe19f7e9407c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176cdf0ebdbe42b9" Type="http://schemas.openxmlformats.org/officeDocument/2006/relationships/slide" Target="../slides/slide1.xml"/><Relationship Id="R2e2c3570a8b34a57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b405ddde74b442b4" Type="http://schemas.openxmlformats.org/officeDocument/2006/relationships/notesMaster" Target="../notesMasters/notesMaster1.xml"/><Relationship Id="Rd594fe325cfa41de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c43e019922af47f9" Type="http://schemas.openxmlformats.org/officeDocument/2006/relationships/notesMaster" Target="../notesMasters/notesMaster1.xml"/><Relationship Id="Rd9d0cfae73a8429a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a1c54428a89c488f" Type="http://schemas.openxmlformats.org/officeDocument/2006/relationships/notesMaster" Target="../notesMasters/notesMaster1.xml"/><Relationship Id="Rf650223c65254334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3719c9cdecdd4464" Type="http://schemas.openxmlformats.org/officeDocument/2006/relationships/notesMaster" Target="../notesMasters/notesMaster1.xml"/><Relationship Id="R670d82c6d280455b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61a2a0a6506f49f4" Type="http://schemas.openxmlformats.org/officeDocument/2006/relationships/notesMaster" Target="../notesMasters/notesMaster1.xml"/><Relationship Id="R67d95fce7e6c4504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49bc7802c814480a" Type="http://schemas.openxmlformats.org/officeDocument/2006/relationships/slide" Target="../slides/slide7.xml"/><Relationship Id="Rc6c15ef94e334c9d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39a63043757c4004" Type="http://schemas.openxmlformats.org/officeDocument/2006/relationships/slide" Target="../slides/slide8.xml"/><Relationship Id="Rc79eb718638640a8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771ed417828b4056" Type="http://schemas.openxmlformats.org/officeDocument/2006/relationships/slide" Target="../slides/slide9.xml"/><Relationship Id="Raff2278bc4734a8f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2be7a877112e452c" Type="http://schemas.openxmlformats.org/officeDocument/2006/relationships/notesMaster" Target="../notesMasters/notesMaster1.xml"/><Relationship Id="Rd876e1df42e84523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2f0afa5ac2ad451f" Type="http://schemas.openxmlformats.org/officeDocument/2006/relationships/notesMaster" Target="../notesMasters/notesMaster1.xml"/><Relationship Id="Rba94789674de4766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dae3f35275f44965" Type="http://schemas.openxmlformats.org/officeDocument/2006/relationships/slide" Target="../slides/slide12.xml"/><Relationship Id="Rfbd2e5a89cb940d3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1 min. Présenter PurpleWatch comme un laboratoire autorisé de validation défensive.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1 min. Insister sur le cycle complet, pas seulement sur l’installation des outils.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1 min. Rappeler que toutes les actions restent dans le périmètre du laboratoire.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2 min. Décrire Caldera comme l’orchestrateur, les endpoints comme les sources d’événements, Wazuh comme le point de détection.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1 min 30. Nommer les rôles de chaque framework plutôt que détailler chaque produit.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1 min 30. Donner l’exemple du retour Caldera de net user ou de la règle Linux ps.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2 min. Indiquer six techniques couvertes, avec cinq règles locales PurpleWatch et une règle native complémentaire.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2 min. Montrer en direct la ligne Caldera ou une capture, puis la règle Wazuh 100101.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2 min. Cette slide sert de preuve complémentaire et peut devenir la démonstration live la plus stable.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2 min. Cette slide est essentielle : elle montre la capacité de diagnostic plutôt qu’une simple suite de commandes.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1 min 30. La séquence live doit rester sous trois minutes. Ne pas chercher à lancer toutes les techniques en direct.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Durée 1 min. Conclure sur les preuves, les retests et les limites connues. Garder la matrice et l’AAR disponibles pour les questions.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47428c72cbbf41f6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8a75e2b843184552" Type="http://schemas.openxmlformats.org/officeDocument/2006/relationships/slideLayout" Target="../slideLayouts/slideLayout1.xml"/><Relationship Id="R96806db8a7cf4ae3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a75e2b84318455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7d59e18a37534f07" Type="http://schemas.openxmlformats.org/officeDocument/2006/relationships/notesSlide" Target="../notesSlides/notesSlide1.xml"/><Relationship Id="Rb5e48f9c10b14700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4477663844f34f03" Type="http://schemas.openxmlformats.org/officeDocument/2006/relationships/slideLayout" Target="../slideLayouts/slideLayout1.xml"/><Relationship Id="Rac443ae125144ca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cfcc0556106740d7" Type="http://schemas.openxmlformats.org/officeDocument/2006/relationships/slideLayout" Target="../slideLayouts/slideLayout1.xml"/><Relationship Id="Rd808614f281e4d6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c820bf86c5334093" Type="http://schemas.openxmlformats.org/officeDocument/2006/relationships/slideLayout" Target="../slideLayouts/slideLayout1.xml"/><Relationship Id="Rd43dd5936a9b4dc1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5aed89020fb7454b" Type="http://schemas.openxmlformats.org/officeDocument/2006/relationships/slideLayout" Target="../slideLayouts/slideLayout1.xml"/><Relationship Id="Rcd4d99b96885402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a7b73772f5644e2c" Type="http://schemas.openxmlformats.org/officeDocument/2006/relationships/notesSlide" Target="../notesSlides/notesSlide6.xml"/><Relationship Id="Rc839dcce95e24dab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112de0148fb9400d" Type="http://schemas.openxmlformats.org/officeDocument/2006/relationships/notesSlide" Target="../notesSlides/notesSlide7.xml"/><Relationship Id="R3b78799573fe45c4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59bf7895b1bf46ac" Type="http://schemas.openxmlformats.org/officeDocument/2006/relationships/slideLayout" Target="../slideLayouts/slideLayout1.xml"/><Relationship Id="R5baa2b3d170c42d1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1422e56a971b45c5" Type="http://schemas.openxmlformats.org/officeDocument/2006/relationships/notesSlide" Target="../notesSlides/notesSlide9.xml"/><Relationship Id="Rada3a3574d334f77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6c658734ce0f4edc" Type="http://schemas.openxmlformats.org/officeDocument/2006/relationships/notesSlide" Target="../notesSlides/notesSlide10.xml"/><Relationship Id="R7bcd83e5a8c74150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189ac5fed5c24a9a" Type="http://schemas.openxmlformats.org/officeDocument/2006/relationships/notesSlide" Target="../notesSlides/notesSlide11.xml"/><Relationship Id="R5ef1cb34433c42ed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1e44a7fefccf498f" Type="http://schemas.openxmlformats.org/officeDocument/2006/relationships/slideLayout" Target="../slideLayouts/slideLayout1.xml"/><Relationship Id="Ree39f8aa4232446a" Type="http://schemas.openxmlformats.org/officeDocument/2006/relationships/notesSlide" Target="../notesSlides/notesSlide12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5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D8E235-8ED4-4878-94E2-AE403AF32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40CC91-639A-42D7-B1A2-1C78CDB34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PURPLEWATCH  |  Soutenance  |  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E6B9C4-BB49-42E6-B395-4DC9DA852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723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2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42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PurpleWatch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96A643-2437-4947-BE6F-44EBFA114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6572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Laboratoire de validation défensive</a:t>
            </a:r>
          </a:p>
          <a:p xmlns:a="http://schemas.openxmlformats.org/drawingml/2006/main">
            <a:pPr>
              <a:defRPr sz="2250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MITRE ATT&amp;CK, Caldera et Wazuh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960ADA-AA53-4457-A3D3-7D3F8851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714500"/>
            <a:ext cx="31432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A855F7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20 minutes</a:t>
            </a:r>
          </a:p>
          <a:p xmlns:a="http://schemas.openxmlformats.org/drawingml/2006/main">
            <a:pPr>
              <a:defRPr sz="18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Démonstration, preuves et retours techniques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EBA90A-9AB7-4D56-9105-913A54B5C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762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38BDF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1">
                <a:solidFill>
                  <a:srgbClr val="38BDF8"/>
                </a:solidFill>
                <a:latin typeface="Bitstream Charter"/>
                <a:ea typeface="Bitstream Charter"/>
                <a:cs typeface="Bitstream Charter"/>
              </a:rPr>
              <a:t>Projet Cybersecurity Portfolio  |  24 septembre 2026</a:t>
            </a:r>
          </a:p>
        </p:txBody>
      </p:sp>
    </p:spTree>
    <p:extLst>
      <p:ext uri="{BB962C8B-B14F-4D97-AF65-F5344CB8AC3E}">
        <p14:creationId xmlns:p14="http://schemas.microsoft.com/office/powerpoint/2010/main" val="38535379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5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EE8EDF-AD5D-44F1-A9EB-C7F6AF8FE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4FD531-2BCF-4F61-AD6E-E43B6E4C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PURPLEWATCH  |  Soutenance  |  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C47D89-DB96-4481-9767-50712165A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Objectif du projet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5BEA0F-9151-4A4D-98D6-BE9AF42DA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Vérifier une détection, corriger un écart, puis valider le résultat par retest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A69299-81C8-4BED-A487-247449FC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49530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38BDF8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Question posée
Les actions contrôlées du lab génèrent-elles la télémétrie et les alertes attendues ?</a:t>
            </a:r>
          </a:p>
          <a:p xmlns:a="http://schemas.openxmlformats.org/drawingml/2006/main">
            <a:pPr>
              <a:defRPr sz="18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554D4C-8933-4194-B494-AD3916040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09750"/>
            <a:ext cx="53340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44D19D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Critère de réussite</a:t>
            </a:r>
          </a:p>
          <a:p xmlns:a="http://schemas.openxmlformats.org/drawingml/2006/main">
            <a:pPr>
              <a:defRPr sz="18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Caldera exécute la technique, la télémétrie existe, Wazuh déclenche la règle attendue.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1DBE6E-D020-4EEE-8574-E20E2E3EC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La valeur du projet vient des preuves E2E et des corrections documentées.</a:t>
            </a:r>
          </a:p>
        </p:txBody>
      </p:sp>
    </p:spTree>
    <p:extLst>
      <p:ext uri="{BB962C8B-B14F-4D97-AF65-F5344CB8AC3E}">
        <p14:creationId xmlns:p14="http://schemas.microsoft.com/office/powerpoint/2010/main" val="33219184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FD0B41-91FE-4A7F-ABF1-823BD41DF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92B805-D2A7-42C3-823D-3A55F3919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PURPLEWATCH  |  Soutenance  |  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F148A4-0935-4989-9806-CA36D453A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Périmètre et éthique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3B349A-C602-4C0B-AC9E-5D5B99146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33337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44D19D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Périmètre autorisé</a:t>
            </a:r>
          </a:p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Machines personnelles, VMs locales et serveurs du laboratoire PurpleWatch.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28AAD0-31A6-40FE-97E1-B70D1FDFA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666875"/>
            <a:ext cx="33337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38BDF8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Techniques limitées
Exécution, découverte, lecture de leurre, collecte fictive et camouflage inoffensif.</a:t>
            </a:r>
          </a:p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F719A1-8C9F-483D-A214-BE99CFE54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666875"/>
            <a:ext cx="33337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A855F7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Résultat attendu</a:t>
            </a:r>
          </a:p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Télémétrie, détection et preuve de correction. Les données restent dans le lab.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EEA709-4983-4D8F-85A1-ECCF4BAD9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666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667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Référentiel de techniques : MITRE ATT&amp;CK</a:t>
            </a:r>
          </a:p>
        </p:txBody>
      </p:sp>
    </p:spTree>
    <p:extLst>
      <p:ext uri="{BB962C8B-B14F-4D97-AF65-F5344CB8AC3E}">
        <p14:creationId xmlns:p14="http://schemas.microsoft.com/office/powerpoint/2010/main" val="16577356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5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D8A7B8-9B84-440E-8E8D-9F332DFA9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3CA417-A49E-4742-BE0D-72094A519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PURPLEWATCH  |  Soutenance  |  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792EE8-1E32-47C3-9507-4FAD6ECBC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Architecture PurpleWatch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F04127-1E01-4AF9-B4C3-B07ABCFD7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Les rôles restent séparés pour faciliter le test et le diagnostic</a:t>
            </a:r>
          </a:p>
        </p:txBody>
      </p:sp>
      <p:sp xmlns:a="http://schemas.openxmlformats.org/drawingml/2006/main">
        <p:nvSpPr>
          <p:cNvPr id="11" name="Rounded Rectangle 10"/>
          <p:cNvSpPr/>
          <p:nvPr/>
        </p:nvSpPr>
        <p:spPr>
          <a:xfrm>
            <a:off x="731520" y="1554480"/>
            <a:ext cx="5303520" cy="4370832"/>
          </a:xfrm>
          <a:prstGeom prst="roundRect">
            <a:avLst/>
          </a:prstGeom>
          <a:solidFill>
            <a:srgbClr val="102336"/>
          </a:solidFill>
          <a:ln>
            <a:solidFill>
              <a:srgbClr val="A26D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200" b="0">
                <a:solidFill>
                  <a:srgbClr val="F6F9FF"/>
                </a:solidFill>
                <a:latin typeface="Aptos"/>
              </a:rPr>
              <a:t/>
            </a:r>
          </a:p>
        </p:txBody>
      </p:sp>
      <p:sp xmlns:a="http://schemas.openxmlformats.org/drawingml/2006/main">
        <p:nvSpPr>
          <p:cNvPr id="12" name="Rounded Rectangle 11"/>
          <p:cNvSpPr/>
          <p:nvPr/>
        </p:nvSpPr>
        <p:spPr>
          <a:xfrm>
            <a:off x="6172200" y="1554480"/>
            <a:ext cx="5303520" cy="4370832"/>
          </a:xfrm>
          <a:prstGeom prst="roundRect">
            <a:avLst/>
          </a:prstGeom>
          <a:solidFill>
            <a:srgbClr val="102336"/>
          </a:solidFill>
          <a:ln>
            <a:solidFill>
              <a:srgbClr val="45B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200" b="0">
                <a:solidFill>
                  <a:srgbClr val="F6F9FF"/>
                </a:solidFill>
                <a:latin typeface="Aptos"/>
              </a:rPr>
              <a:t/>
            </a:r>
          </a:p>
        </p:txBody>
      </p:sp>
      <p:sp xmlns:a="http://schemas.openxmlformats.org/drawingml/2006/main">
        <p:nvSpPr>
          <p:cNvPr id="13" name="TextBox 12"/>
          <p:cNvSpPr txBox="1"/>
          <p:nvPr/>
        </p:nvSpPr>
        <p:spPr>
          <a:xfrm>
            <a:off x="914400" y="1709928"/>
            <a:ext cx="4937760" cy="301752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1700">
                <a:solidFill>
                  <a:srgbClr val="C4A0FA"/>
                </a:solidFill>
                <a:latin typeface="Aptos"/>
              </a:rPr>
              <a:t>CLOUD SCALEWAY</a:t>
            </a:r>
          </a:p>
        </p:txBody>
      </p:sp>
      <p:sp xmlns:a="http://schemas.openxmlformats.org/drawingml/2006/main">
        <p:nvSpPr>
          <p:cNvPr id="14" name="TextBox 13"/>
          <p:cNvSpPr txBox="1"/>
          <p:nvPr/>
        </p:nvSpPr>
        <p:spPr>
          <a:xfrm>
            <a:off x="6355080" y="1709928"/>
            <a:ext cx="4937760" cy="301752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1700">
                <a:solidFill>
                  <a:srgbClr val="69D5F5"/>
                </a:solidFill>
                <a:latin typeface="Aptos"/>
              </a:rPr>
              <a:t>LOCAL VIRTUALBOX + POSTE HÔTE</a:t>
            </a:r>
          </a:p>
        </p:txBody>
      </p:sp>
      <p:sp xmlns:a="http://schemas.openxmlformats.org/drawingml/2006/main">
        <p:nvSpPr>
          <p:cNvPr id="15" name="Rounded Rectangle 14"/>
          <p:cNvSpPr/>
          <p:nvPr/>
        </p:nvSpPr>
        <p:spPr>
          <a:xfrm>
            <a:off x="978408" y="2258568"/>
            <a:ext cx="2139696" cy="1033271"/>
          </a:xfrm>
          <a:prstGeom prst="roundRect">
            <a:avLst/>
          </a:prstGeom>
          <a:solidFill>
            <a:srgbClr val="1D3D5F"/>
          </a:solidFill>
          <a:ln>
            <a:solidFill>
              <a:srgbClr val="AC7B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0">
                <a:solidFill>
                  <a:srgbClr val="F6F9FF"/>
                </a:solidFill>
                <a:latin typeface="Aptos"/>
              </a:rPr>
              <a:t>PW-CALDERA-01
Caldera · C2 Sandcat</a:t>
            </a:r>
          </a:p>
        </p:txBody>
      </p:sp>
      <p:sp xmlns:a="http://schemas.openxmlformats.org/drawingml/2006/main">
        <p:nvSpPr>
          <p:cNvPr id="16" name="Rounded Rectangle 15"/>
          <p:cNvSpPr/>
          <p:nvPr/>
        </p:nvSpPr>
        <p:spPr>
          <a:xfrm>
            <a:off x="3584448" y="2258568"/>
            <a:ext cx="2139696" cy="1033271"/>
          </a:xfrm>
          <a:prstGeom prst="roundRect">
            <a:avLst/>
          </a:prstGeom>
          <a:solidFill>
            <a:srgbClr val="1D3D5F"/>
          </a:solidFill>
          <a:ln>
            <a:solidFill>
              <a:srgbClr val="4ADA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0">
                <a:solidFill>
                  <a:srgbClr val="F6F9FF"/>
                </a:solidFill>
                <a:latin typeface="Aptos"/>
              </a:rPr>
              <a:t>PW-LINUX-01
Sandcat · auditd · agent</a:t>
            </a:r>
          </a:p>
        </p:txBody>
      </p:sp>
      <p:sp xmlns:a="http://schemas.openxmlformats.org/drawingml/2006/main">
        <p:nvSpPr>
          <p:cNvPr id="17" name="Rounded Rectangle 16"/>
          <p:cNvSpPr/>
          <p:nvPr/>
        </p:nvSpPr>
        <p:spPr>
          <a:xfrm>
            <a:off x="6428232" y="2258568"/>
            <a:ext cx="2139696" cy="1033271"/>
          </a:xfrm>
          <a:prstGeom prst="roundRect">
            <a:avLst/>
          </a:prstGeom>
          <a:solidFill>
            <a:srgbClr val="1D3D5F"/>
          </a:solidFill>
          <a:ln>
            <a:solidFill>
              <a:srgbClr val="45B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0">
                <a:solidFill>
                  <a:srgbClr val="F6F9FF"/>
                </a:solidFill>
                <a:latin typeface="Aptos"/>
              </a:rPr>
              <a:t>PW-WIN11-01
Sandcat · Sysmon · agent</a:t>
            </a:r>
          </a:p>
        </p:txBody>
      </p:sp>
      <p:sp xmlns:a="http://schemas.openxmlformats.org/drawingml/2006/main">
        <p:nvSpPr>
          <p:cNvPr id="18" name="Rounded Rectangle 17"/>
          <p:cNvSpPr/>
          <p:nvPr/>
        </p:nvSpPr>
        <p:spPr>
          <a:xfrm>
            <a:off x="9043416" y="2258568"/>
            <a:ext cx="2139696" cy="1033271"/>
          </a:xfrm>
          <a:prstGeom prst="roundRect">
            <a:avLst/>
          </a:prstGeom>
          <a:solidFill>
            <a:srgbClr val="1D3D5F"/>
          </a:solidFill>
          <a:ln>
            <a:solidFill>
              <a:srgbClr val="45B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0">
                <a:solidFill>
                  <a:srgbClr val="F6F9FF"/>
                </a:solidFill>
                <a:latin typeface="Aptos"/>
              </a:rPr>
              <a:t>PW-WAZUH-01
Manager · Indexer · UI</a:t>
            </a:r>
          </a:p>
        </p:txBody>
      </p:sp>
      <p:cxnSp xmlns:a="http://schemas.openxmlformats.org/drawingml/2006/main">
        <p:nvCxnSpPr>
          <p:cNvPr id="19" name="Connector 18"/>
          <p:cNvCxnSpPr/>
          <p:nvPr/>
        </p:nvCxnSpPr>
        <p:spPr>
          <a:xfrm>
            <a:off x="3127248" y="2770632"/>
            <a:ext cx="429768" cy="0"/>
          </a:xfrm>
          <a:prstGeom prst="line">
            <a:avLst/>
          </a:prstGeom>
          <a:ln w="25400">
            <a:solidFill>
              <a:srgbClr val="AC7BF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20" name="TextBox 19"/>
          <p:cNvSpPr txBox="1"/>
          <p:nvPr/>
        </p:nvSpPr>
        <p:spPr>
          <a:xfrm>
            <a:off x="3118104" y="2953512"/>
            <a:ext cx="457200" cy="301752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1000">
                <a:solidFill>
                  <a:srgbClr val="C4A0FA"/>
                </a:solidFill>
                <a:latin typeface="Aptos"/>
              </a:rPr>
              <a:t>8888</a:t>
            </a:r>
          </a:p>
        </p:txBody>
      </p:sp>
      <p:cxnSp xmlns:a="http://schemas.openxmlformats.org/drawingml/2006/main">
        <p:nvCxnSpPr>
          <p:cNvPr id="21" name="Connector 20"/>
          <p:cNvCxnSpPr/>
          <p:nvPr/>
        </p:nvCxnSpPr>
        <p:spPr>
          <a:xfrm>
            <a:off x="6949440" y="3474720"/>
            <a:ext cx="3154680" cy="0"/>
          </a:xfrm>
          <a:prstGeom prst="line">
            <a:avLst/>
          </a:prstGeom>
          <a:ln w="25400">
            <a:solidFill>
              <a:srgbClr val="45B6E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22" name="TextBox 21"/>
          <p:cNvSpPr txBox="1"/>
          <p:nvPr/>
        </p:nvSpPr>
        <p:spPr>
          <a:xfrm>
            <a:off x="6675120" y="3593592"/>
            <a:ext cx="3703320" cy="301752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1300">
                <a:solidFill>
                  <a:srgbClr val="C7DCEE"/>
                </a:solidFill>
                <a:latin typeface="Aptos"/>
              </a:rPr>
              <a:t>Sysmon → Wazuh · host-only · TCP 1514</a:t>
            </a:r>
          </a:p>
        </p:txBody>
      </p:sp>
      <p:cxnSp xmlns:a="http://schemas.openxmlformats.org/drawingml/2006/main">
        <p:nvCxnSpPr>
          <p:cNvPr id="23" name="Connector 22"/>
          <p:cNvCxnSpPr/>
          <p:nvPr/>
        </p:nvCxnSpPr>
        <p:spPr>
          <a:xfrm>
            <a:off x="2057400" y="4343400"/>
            <a:ext cx="5422392" cy="0"/>
          </a:xfrm>
          <a:prstGeom prst="line">
            <a:avLst/>
          </a:prstGeom>
          <a:ln w="25400">
            <a:solidFill>
              <a:srgbClr val="AC7BF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24" name="TextBox 23"/>
          <p:cNvSpPr txBox="1"/>
          <p:nvPr/>
        </p:nvSpPr>
        <p:spPr>
          <a:xfrm>
            <a:off x="2057400" y="4050791"/>
            <a:ext cx="5486400" cy="301752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1300">
                <a:solidFill>
                  <a:srgbClr val="C7DCEE"/>
                </a:solidFill>
                <a:latin typeface="Aptos"/>
              </a:rPr>
              <a:t>Caldera → Sandcat Windows · Tailscale · HTTP 8888</a:t>
            </a:r>
          </a:p>
        </p:txBody>
      </p:sp>
      <p:cxnSp xmlns:a="http://schemas.openxmlformats.org/drawingml/2006/main">
        <p:nvCxnSpPr>
          <p:cNvPr id="25" name="Connector 24"/>
          <p:cNvCxnSpPr/>
          <p:nvPr/>
        </p:nvCxnSpPr>
        <p:spPr>
          <a:xfrm>
            <a:off x="4645152" y="5065776"/>
            <a:ext cx="5321808" cy="0"/>
          </a:xfrm>
          <a:prstGeom prst="line">
            <a:avLst/>
          </a:prstGeom>
          <a:ln w="25400">
            <a:solidFill>
              <a:srgbClr val="4ADAA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26" name="TextBox 25"/>
          <p:cNvSpPr txBox="1"/>
          <p:nvPr/>
        </p:nvSpPr>
        <p:spPr>
          <a:xfrm>
            <a:off x="4160520" y="4736592"/>
            <a:ext cx="5989320" cy="301752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1300">
                <a:solidFill>
                  <a:srgbClr val="C7DCEE"/>
                </a:solidFill>
                <a:latin typeface="Aptos"/>
              </a:rPr>
              <a:t>auditd Linux → Wazuh · Tailscale · TCP 1514</a:t>
            </a:r>
          </a:p>
        </p:txBody>
      </p:sp>
      <p:sp xmlns:a="http://schemas.openxmlformats.org/drawingml/2006/main">
        <p:nvSpPr>
          <p:cNvPr id="27" name="TextBox 26"/>
          <p:cNvSpPr txBox="1"/>
          <p:nvPr/>
        </p:nvSpPr>
        <p:spPr>
          <a:xfrm>
            <a:off x="6400800" y="5349240"/>
            <a:ext cx="4663440" cy="301752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1200">
                <a:solidFill>
                  <a:srgbClr val="C7DCEE"/>
                </a:solidFill>
                <a:latin typeface="Aptos"/>
              </a:rPr>
              <a:t>Poste hôte : HTTPS 192.168.56.105 ; WSL → Caldera par SSH</a:t>
            </a:r>
          </a:p>
        </p:txBody>
      </p:sp>
    </p:spTree>
    <p:extLst>
      <p:ext uri="{BB962C8B-B14F-4D97-AF65-F5344CB8AC3E}">
        <p14:creationId xmlns:p14="http://schemas.microsoft.com/office/powerpoint/2010/main" val="212403766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5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2E1000-3FEA-4E68-85C8-DE8E6C9FC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5D7A18-E970-40AC-B762-7E645B614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PURPLEWATCH  |  Soutenance  |  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7B6E62-77A1-442F-BE06-43614FEDD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Cadre technique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DB3896-6C87-4114-B0B6-831FEF290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314325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A855F7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MITRE ATT&amp;CK</a:t>
            </a:r>
          </a:p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Langage commun pour décrire les techniques testées.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CE12B6-0B90-49BA-AC1C-821E76BBD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619250"/>
            <a:ext cx="314325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38BDF8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Caldera et Sandcat</a:t>
            </a:r>
          </a:p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Exécution contrôlée des abilities et remontée des résultats.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3BC6B9-A86F-480D-9FE8-EE494979A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619250"/>
            <a:ext cx="3143250" cy="1476375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44D19D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Wazuh, Sysmon et auditd</a:t>
            </a:r>
          </a:p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Collecte, analyse et alertes de sécurité.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4068FB-A019-4004-BB6B-723373DA3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227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Tailscale assure la connectivité privée. systemd et le Planificateur Windows apportent la reproductibilité.</a:t>
            </a:r>
          </a:p>
        </p:txBody>
      </p:sp>
    </p:spTree>
    <p:extLst>
      <p:ext uri="{BB962C8B-B14F-4D97-AF65-F5344CB8AC3E}">
        <p14:creationId xmlns:p14="http://schemas.microsoft.com/office/powerpoint/2010/main" val="49993600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5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F2D976-BEDB-4A0D-B252-45A2097FC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C9D7ED-20AB-4415-BFFD-C0753AFC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PURPLEWATCH  |  Soutenance  |  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900B97-5EB0-4249-807E-8095862C7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Méthode de validation E2E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A6505C-4E35-4900-91E5-04A1FD670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2095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A855F7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1</a:t>
            </a:r>
          </a:p>
          <a:p xmlns:a="http://schemas.openxmlformats.org/drawingml/2006/main">
            <a:pPr>
              <a:def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Caldera lance une ability ATT&amp;CK.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3AD5D5-BA06-4F5B-B523-D317C09E2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809750"/>
            <a:ext cx="2095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38BDF8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2</a:t>
            </a:r>
          </a:p>
          <a:p xmlns:a="http://schemas.openxmlformats.org/drawingml/2006/main">
            <a:pPr>
              <a:def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Sysmon ou auditd enregistre l’exécution.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D0B769-1C1E-4CA9-8F17-3FB3127E5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09750"/>
            <a:ext cx="2095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44D19D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3</a:t>
            </a:r>
          </a:p>
          <a:p xmlns:a="http://schemas.openxmlformats.org/drawingml/2006/main">
            <a:pPr>
              <a:def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L’agent Wazuh transmet au manager.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48F99A-EA2D-49C5-B19C-5E928AD07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809750"/>
            <a:ext cx="20955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38BDF8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4</a:t>
            </a:r>
          </a:p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Une règle PurpleWatch alerte et relie l’événement à ATT&amp;CK.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3D4F16-5FEF-4267-86DA-E6976CBD9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38625"/>
            <a:ext cx="1000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Lorsqu’un maillon échoue, nous diagnostiquons, corrigeons et relançons le même scénario.</a:t>
            </a:r>
          </a:p>
        </p:txBody>
      </p:sp>
    </p:spTree>
    <p:extLst>
      <p:ext uri="{BB962C8B-B14F-4D97-AF65-F5344CB8AC3E}">
        <p14:creationId xmlns:p14="http://schemas.microsoft.com/office/powerpoint/2010/main" val="172050023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5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500898-F87C-420D-8E71-839A67A05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510697-CDA3-4315-9B98-E0C4DF27F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PURPLEWATCH  |  Soutenance  |  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9CCA6E-6038-4A64-BFDF-46AF09903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Couverture ATT&amp;CK : 5 tactiques Linux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E7BFBD-5A45-4B7E-96A2-965AEE3AE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71625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38BDF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>
                <a:solidFill>
                  <a:srgbClr val="38BDF8"/>
                </a:solidFill>
                <a:latin typeface="Bitstream Charter"/>
                <a:ea typeface="Bitstream Charter"/>
                <a:cs typeface="Bitstream Charter"/>
              </a:rPr>
              <a:t>Windows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3CEBF8-177D-4DDE-AD53-6C1A6F62E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571625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194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44D19D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>
                <a:solidFill>
                  <a:srgbClr val="44D19D"/>
                </a:solidFill>
                <a:latin typeface="Bitstream Charter"/>
                <a:ea typeface="Bitstream Charter"/>
                <a:cs typeface="Bitstream Charter"/>
              </a:rPr>
              <a:t>Linux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3BCC6B-34BA-4248-B930-C9A9268FB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5500"/>
            <a:ext cx="45720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38BDF8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T1082  System Information</a:t>
            </a:r>
          </a:p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Règle 100100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FDBA78-27CB-4988-A6D6-95EF0997C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28950"/>
            <a:ext cx="45720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38BDF8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T1057  Process Discovery</a:t>
            </a:r>
          </a:p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Règle 100101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E453C2-64A9-453E-8071-5AABE406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62400"/>
            <a:ext cx="45720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38BDF8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T1087.001  Local Account Discovery</a:t>
            </a:r>
          </a:p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Règle 100102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1F6DE5-C66D-4E85-8E78-E9B42A51D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45720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38BDF8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T1016  Network Configuration</a:t>
            </a:r>
          </a:p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Règle 100103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BD89ED-1B3B-40C3-B8AC-34D5A4118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571750"/>
            <a:ext cx="4572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44D19D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Discovery : T1082, T1057, T1016, T1087.001
Règles 100104 à 100107</a:t>
            </a:r>
          </a:p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EB4866-423F-440F-BDA1-3B64C884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90950"/>
            <a:ext cx="45720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44D19D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Execution T1059.004 · Credential Access T1552.001
Collection T1119 · Defense Evasion T1036.005</a:t>
            </a:r>
          </a:p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</p:txBody>
      </p:sp>
    </p:spTree>
    <p:extLst>
      <p:ext uri="{BB962C8B-B14F-4D97-AF65-F5344CB8AC3E}">
        <p14:creationId xmlns:p14="http://schemas.microsoft.com/office/powerpoint/2010/main" val="53899794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5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2F9D43-7C5B-4306-904B-48B972B29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503DBF-0E4B-42AF-A20F-9404E6498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PURPLEWATCH  |  Soutenance  |  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2E3B3C-9F3B-4821-9F84-D5C71DDEC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Preuves Windows récentes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5D5EDD-99E7-422C-994F-A03E7DB11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La reprise de WazuhSvc a rétabli la collecte et les alertes rapides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FB38E8-6DAE-49C8-96BD-A7254C54E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45720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38BDF8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T1082</a:t>
            </a:r>
          </a:p>
          <a:p xmlns:a="http://schemas.openxmlformats.org/drawingml/2006/main">
            <a:pPr>
              <a:defRPr sz="18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Caldera success 19:03:08</a:t>
            </a:r>
          </a:p>
          <a:p xmlns:a="http://schemas.openxmlformats.org/drawingml/2006/main">
            <a:pPr>
              <a:defRPr sz="18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Wazuh 100100 19:03:44.817</a:t>
            </a:r>
          </a:p>
          <a:p xmlns:a="http://schemas.openxmlformats.org/drawingml/2006/main">
            <a:pPr>
              <a:defRPr sz="18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36,817 secondes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A9D7B3-7BF2-4503-ABC3-86019FEFB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62125"/>
            <a:ext cx="45720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44D19D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T1057</a:t>
            </a:r>
          </a:p>
          <a:p xmlns:a="http://schemas.openxmlformats.org/drawingml/2006/main">
            <a:pPr>
              <a:defRPr sz="18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Caldera success 19:09:31</a:t>
            </a:r>
          </a:p>
          <a:p xmlns:a="http://schemas.openxmlformats.org/drawingml/2006/main">
            <a:pPr>
              <a:defRPr sz="18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Wazuh 100101 19:09:47.526</a:t>
            </a:r>
          </a:p>
          <a:p xmlns:a="http://schemas.openxmlformats.org/drawingml/2006/main">
            <a:pPr>
              <a:defRPr sz="18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16,526 secondes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F26255-F69C-4E4A-A557-AF272FB86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4375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Sandcat manuel : C:\Users\Public\Start-PurpleWatch-Sandcat.cmd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A00CE7-B488-4B18-AF12-BFEE308C4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1047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La tâche planifiée reste un point à corriger. Le script manuel sert de procédure de secours.</a:t>
            </a:r>
          </a:p>
        </p:txBody>
      </p:sp>
    </p:spTree>
    <p:extLst>
      <p:ext uri="{BB962C8B-B14F-4D97-AF65-F5344CB8AC3E}">
        <p14:creationId xmlns:p14="http://schemas.microsoft.com/office/powerpoint/2010/main" val="115098598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5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7F16D2-BAFD-4E51-AF26-189E367FA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79D051-E525-42DE-94DF-25670B362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PURPLEWATCH  |  Soutenance  |  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35BA26-6EB4-4176-B166-0D221074F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Preuves Linux : mesures et corrélation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C4B2DF-E584-4CC2-A9F1-BA3ECC178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31432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44D19D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5 séquences Caldera
15/15 alertes attendues
T1082 → T1057 → T1016</a:t>
            </a:r>
          </a:p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AD015C-418B-4D1F-92AE-86FC8AAEF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809750"/>
            <a:ext cx="31432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44D19D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Latence auditd → Wazuh
P50 0,874 s · P95 1,178 s
n = 15 ; résultat exploratoire</a:t>
            </a:r>
          </a:p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  <a:p xmlns:a="http://schemas.openxmlformats.org/drawingml/2006/main">
            <a:pPr>
              <a:defRPr sz="165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B49E6F-6630-41E2-BA0E-E8C489264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809750"/>
            <a:ext cx="31432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A855F7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Corrélation automatique
Règle Wazuh 100112
Fenêtre observée : 86 s</a:t>
            </a:r>
          </a:p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CDAFA4-584C-4670-8C30-19DBDA104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33875"/>
            <a:ext cx="10572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6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Alerte 100112 à 13:06:04.374 (UTC+2) ; agent source 002. Mesure auditd → alerte, hors délai d’affichage du Dashboard.</a:t>
            </a:r>
          </a:p>
        </p:txBody>
      </p:sp>
    </p:spTree>
    <p:extLst>
      <p:ext uri="{BB962C8B-B14F-4D97-AF65-F5344CB8AC3E}">
        <p14:creationId xmlns:p14="http://schemas.microsoft.com/office/powerpoint/2010/main" val="114957318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5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6DE70B-4588-40CA-A76D-BF3FB1F39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104C53-808F-46AB-A4F8-57F192F06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PURPLEWATCH  |  Soutenance  |  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62EBA1-A411-48CA-89B5-4137380E2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Incidents, corrections et enseignements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C3CA89-A9A8-4C94-8B5C-D5BDCA7B7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33337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A855F7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Caldera T1087.001</a:t>
            </a:r>
          </a:p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net user produisait les comptes mais un code de retour non nul.</a:t>
            </a:r>
          </a:p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Correction : net user; exit 0.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38F77F-ABED-4FAE-A52B-73BF05036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524000"/>
            <a:ext cx="33337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44D19D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Linux T1057</a:t>
            </a:r>
          </a:p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ps -ef était présent dans auditd sans alerte dédiée.</a:t>
            </a:r>
          </a:p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Correction : règle 100105.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900BC2-374C-446E-A6D1-04CD648F0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524000"/>
            <a:ext cx="33337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38BDF8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Windows Wazuh</a:t>
            </a:r>
          </a:p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Services actifs, mais plus d’événements récents.</a:t>
            </a:r>
          </a:p>
          <a:p xmlns:a="http://schemas.openxmlformats.org/drawingml/2006/main">
            <a:pPr>
              <a:def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Correction : reprise de WazuhSvc et retest E2E.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980B70-160B-4BF1-B02E-123B2F16D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8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Chaque correction a été suivie d’un retest et d’une preuve de détection.</a:t>
            </a:r>
          </a:p>
        </p:txBody>
      </p:sp>
    </p:spTree>
    <p:extLst>
      <p:ext uri="{BB962C8B-B14F-4D97-AF65-F5344CB8AC3E}">
        <p14:creationId xmlns:p14="http://schemas.microsoft.com/office/powerpoint/2010/main" val="147942699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5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8653ED-66EA-4179-A654-EF4CA5CC8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91324A-C905-4356-9886-81059BF1D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PURPLEWATCH  |  Soutenance  |  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813629-16A2-45F4-9896-C71B47881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Scénario de démonstration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1F9D26-803A-4178-B76F-B6B84235E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47750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350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Deux adversaries Caldera reproductibles ; données exclusivement fictives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8A9037-2639-4AE0-95FD-6D2EDCE42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2952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38BDF8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0:00 à 0:30
Montrer agents et services
PW-LINUX-01 + Wazuh</a:t>
            </a:r>
          </a:p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20AA5B-8854-42BE-8EDD-FDD45DF4C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14500"/>
            <a:ext cx="2952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A855F7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0:30 à 6:30
Lancer le scénario complet
8 abilities, 5 tactiques</a:t>
            </a:r>
          </a:p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18B79B-3725-4F15-BD43-6D5D5793D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714500"/>
            <a:ext cx="29527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44D19D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6:30 à 8:00
Montrer 8 alertes Wazuh
Puis la corrélation 100112</a:t>
            </a:r>
          </a:p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  <a:p xmlns:a="http://schemas.openxmlformats.org/drawingml/2006/main">
            <a:pPr>
              <a:defRPr sz="157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E2E3B6-28EC-4610-B334-545C026FD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Preuves datées : 8/8 Caldera → 8/8 Wazuh ; 100112 corrèle uname, ps et ip sur le même hôte.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ABC56B-1150-4B4F-87B9-AF528CFF0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500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Plan B : captures Caldera/Wazuh et journal d’attaque si la démonstration en direct est lente.</a:t>
            </a:r>
          </a:p>
        </p:txBody>
      </p:sp>
    </p:spTree>
    <p:extLst>
      <p:ext uri="{BB962C8B-B14F-4D97-AF65-F5344CB8AC3E}">
        <p14:creationId xmlns:p14="http://schemas.microsoft.com/office/powerpoint/2010/main" val="60181414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5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B146E6-33A5-4A03-ADA9-CF9DD6C5D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5F315E-1FFC-46DA-9227-EB1F30101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825" b="0">
                <a:solidFill>
                  <a:srgbClr val="A7BCD8"/>
                </a:solidFill>
                <a:latin typeface="Bitstream Charter"/>
                <a:ea typeface="Bitstream Charter"/>
                <a:cs typeface="Bitstream Charter"/>
              </a:rPr>
              <a:t>PURPLEWATCH  |  Soutenance  |  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393ADF-5455-49FE-93E8-94BD9FDA5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70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Conclusion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A1581F-074D-438F-BEB2-35F45D443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71625"/>
            <a:ext cx="1000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550" b="1">
                <a:solidFill>
                  <a:srgbClr val="FFFFFF"/>
                </a:solidFill>
                <a:latin typeface="Bitstream Charter"/>
                <a:ea typeface="Bitstream Charter"/>
                <a:cs typeface="Bitstream Charter"/>
              </a:rPr>
              <a:t>Deux parcours reproductibles et une corrélation Wazuh validée.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3B67B5-47B5-4CFF-AC36-5FAC117C5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3143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38BDF8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8 techniques Linux
5 tactiques ATT&amp;CK</a:t>
            </a:r>
          </a:p>
          <a:p xmlns:a="http://schemas.openxmlformats.org/drawingml/2006/main">
            <a:pPr>
              <a:def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19749C-853D-44E2-BF38-358815D6B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571750"/>
            <a:ext cx="3143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44D19D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8/8 alertes mult tactiques
Corrélation Wazuh 100112</a:t>
            </a:r>
          </a:p>
          <a:p xmlns:a="http://schemas.openxmlformats.org/drawingml/2006/main">
            <a:pPr>
              <a:def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696EBA-FC38-4B17-865C-193C84052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571750"/>
            <a:ext cx="3143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53B66"/>
          </a:solidFill>
          <a:ln xmlns:a="http://schemas.openxmlformats.org/drawingml/2006/main" w="14288">
            <a:solidFill>
              <a:srgbClr val="A855F7"/>
            </a:solidFill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rPr>
              <a:t>15/15 reconnaissance
P50 0,874 s · P95 1,178 s</a:t>
            </a:r>
          </a:p>
          <a:p xmlns:a="http://schemas.openxmlformats.org/drawingml/2006/main">
            <a:pPr>
              <a:defRPr sz="1725" b="0">
                <a:solidFill>
                  <a:srgbClr val="EAF2FF"/>
                </a:solidFill>
                <a:latin typeface="Bitstream Charter"/>
                <a:ea typeface="Bitstream Charter"/>
                <a:cs typeface="Bitstream Charter"/>
              </a:defRPr>
            </a:pP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C5C69D-73B8-424F-9B47-CD1F2BD4C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38BDF8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00" b="1">
                <a:solidFill>
                  <a:srgbClr val="38BDF8"/>
                </a:solidFill>
                <a:latin typeface="Bitstream Charter"/>
                <a:ea typeface="Bitstream Charter"/>
                <a:cs typeface="Bitstream Charter"/>
              </a:rPr>
              <a:t>Question / Réponse</a:t>
            </a:r>
          </a:p>
        </p:txBody>
      </p:sp>
    </p:spTree>
    <p:extLst>
      <p:ext uri="{BB962C8B-B14F-4D97-AF65-F5344CB8AC3E}">
        <p14:creationId xmlns:p14="http://schemas.microsoft.com/office/powerpoint/2010/main" val="20077870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2026-09-19T17:18:28.7830000Z</dcterms:created>
  <dcterms:modified xsi:type="dcterms:W3CDTF">2026-09-19T17:18:28.7830000Z</dcterms:modified>
</coreProperties>
</file>